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e9033a34-8d79-1c14-e60e-7a0a9310d35e}">
          <p14:sldIdLst>
            <p14:sldId id="256"/>
          </p14:sldIdLst>
        </p14:section>
        <p14:section name="Why now" id="{e0b7663d-296d-4ff2-0818-33ea44ad0ab1}">
          <p14:sldIdLst>
            <p14:sldId id="257"/>
          </p14:sldIdLst>
        </p14:section>
        <p14:section name="Plan" id="{8590412a-211a-35c5-7f09-612398a6e4f2}">
          <p14:sldIdLst>
            <p14:sldId id="258"/>
          </p14:sldIdLst>
        </p14:section>
        <p14:section name="Money" id="{afa9be49-fff9-f61c-6e9b-108c2a413272}">
          <p14:sldIdLst>
            <p14:sldId id="259"/>
          </p14:sldIdLst>
        </p14:section>
        <p14:section name="Decision" id="{80ca4766-4361-95f5-3ba0-ff43ba00f098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C4636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C4636"/>
                </a:solidFill>
                <a:latin typeface="+mn-lt"/>
              </a:rPr>
              <a:t>Operating result per month (€)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result (€)</c:v>
                </c:pt>
              </c:strCache>
            </c:strRef>
          </c:tx>
          <c:spPr>
            <a:solidFill>
              <a:srgbClr val="C95F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Sheet1!$A$2:$A$19</c:f>
              <c:multiLvlStrCache>
                <c:ptCount val="18"/>
                <c:lvl>
                  <c:pt idx="0">
                    <c:v>M1</c:v>
                  </c:pt>
                  <c:pt idx="1">
                    <c:v>M2</c:v>
                  </c:pt>
                  <c:pt idx="2">
                    <c:v>M3</c:v>
                  </c:pt>
                  <c:pt idx="3">
                    <c:v>M4</c:v>
                  </c:pt>
                  <c:pt idx="4">
                    <c:v>M5</c:v>
                  </c:pt>
                  <c:pt idx="5">
                    <c:v>M6</c:v>
                  </c:pt>
                  <c:pt idx="6">
                    <c:v>M7</c:v>
                  </c:pt>
                  <c:pt idx="7">
                    <c:v>M8</c:v>
                  </c:pt>
                  <c:pt idx="8">
                    <c:v>M9</c:v>
                  </c:pt>
                  <c:pt idx="9">
                    <c:v>M10</c:v>
                  </c:pt>
                  <c:pt idx="10">
                    <c:v>M11</c:v>
                  </c:pt>
                  <c:pt idx="11">
                    <c:v>M12</c:v>
                  </c:pt>
                  <c:pt idx="12">
                    <c:v>M13</c:v>
                  </c:pt>
                  <c:pt idx="13">
                    <c:v>M14</c:v>
                  </c:pt>
                  <c:pt idx="14">
                    <c:v>M15</c:v>
                  </c:pt>
                  <c:pt idx="15">
                    <c:v>M16</c:v>
                  </c:pt>
                  <c:pt idx="16">
                    <c:v>M17</c:v>
                  </c:pt>
                  <c:pt idx="17">
                    <c:v>M18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-4366</c:v>
                </c:pt>
                <c:pt idx="1">
                  <c:v>-1256</c:v>
                </c:pt>
                <c:pt idx="2">
                  <c:v>1854</c:v>
                </c:pt>
                <c:pt idx="3">
                  <c:v>4964</c:v>
                </c:pt>
                <c:pt idx="4">
                  <c:v>8067</c:v>
                </c:pt>
                <c:pt idx="5">
                  <c:v>11177</c:v>
                </c:pt>
                <c:pt idx="6">
                  <c:v>11578</c:v>
                </c:pt>
                <c:pt idx="7">
                  <c:v>11985</c:v>
                </c:pt>
                <c:pt idx="8">
                  <c:v>12392</c:v>
                </c:pt>
                <c:pt idx="9">
                  <c:v>12806</c:v>
                </c:pt>
                <c:pt idx="10">
                  <c:v>13220</c:v>
                </c:pt>
                <c:pt idx="11">
                  <c:v>13640</c:v>
                </c:pt>
                <c:pt idx="12">
                  <c:v>14067</c:v>
                </c:pt>
                <c:pt idx="13">
                  <c:v>14494</c:v>
                </c:pt>
                <c:pt idx="14">
                  <c:v>14928</c:v>
                </c:pt>
                <c:pt idx="15">
                  <c:v>15362</c:v>
                </c:pt>
                <c:pt idx="16">
                  <c:v>15802</c:v>
                </c:pt>
                <c:pt idx="17">
                  <c:v>16250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463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2DC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463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ask: approve the investment and the lease. Then show why, how, and what it costs.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5669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51460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Aurora Coffee Roasters · Project Sunrise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n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5544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Sunrise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25146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A second Aurora café on the Korenmarkt, Ghent · Board meeting, October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first café is full every weekend</a:t>
            </a:r>
            <a:endParaRPr lang="en-US" sz="3200" dirty="0"/>
          </a:p>
        </p:txBody>
      </p:sp>
      <p:sp>
        <p:nvSpPr>
          <p:cNvPr id="3" name="Stat card 1"/>
          <p:cNvSpPr/>
          <p:nvPr/>
        </p:nvSpPr>
        <p:spPr>
          <a:xfrm>
            <a:off x="548640" y="1463040"/>
            <a:ext cx="251460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4" name="Stat 1"/>
          <p:cNvSpPr txBox="1"/>
          <p:nvPr/>
        </p:nvSpPr>
        <p:spPr>
          <a:xfrm>
            <a:off x="777240" y="17373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min</a:t>
            </a:r>
            <a:endParaRPr lang="en-US" sz="4400" dirty="0"/>
          </a:p>
        </p:txBody>
      </p:sp>
      <p:sp>
        <p:nvSpPr>
          <p:cNvPr id="5" name="Stat label 1"/>
          <p:cNvSpPr txBox="1"/>
          <p:nvPr/>
        </p:nvSpPr>
        <p:spPr>
          <a:xfrm>
            <a:off x="777240" y="27432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average weekend queue at Vrijdagmarkt</a:t>
            </a:r>
            <a:endParaRPr lang="en-US" sz="1600" dirty="0"/>
          </a:p>
        </p:txBody>
      </p:sp>
      <p:sp>
        <p:nvSpPr>
          <p:cNvPr id="6" name="Stat card 2"/>
          <p:cNvSpPr/>
          <p:nvPr/>
        </p:nvSpPr>
        <p:spPr>
          <a:xfrm>
            <a:off x="3291840" y="1463040"/>
            <a:ext cx="251460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7" name="Stat 2"/>
          <p:cNvSpPr txBox="1"/>
          <p:nvPr/>
        </p:nvSpPr>
        <p:spPr>
          <a:xfrm>
            <a:off x="3520440" y="17373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4400" dirty="0"/>
          </a:p>
        </p:txBody>
      </p:sp>
      <p:sp>
        <p:nvSpPr>
          <p:cNvPr id="8" name="Stat label 2"/>
          <p:cNvSpPr txBox="1"/>
          <p:nvPr/>
        </p:nvSpPr>
        <p:spPr>
          <a:xfrm>
            <a:off x="3520440" y="27432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guests a week we turn away</a:t>
            </a:r>
            <a:endParaRPr lang="en-US" sz="1600" dirty="0"/>
          </a:p>
        </p:txBody>
      </p:sp>
      <p:sp>
        <p:nvSpPr>
          <p:cNvPr id="9" name="Stat card 3"/>
          <p:cNvSpPr/>
          <p:nvPr/>
        </p:nvSpPr>
        <p:spPr>
          <a:xfrm>
            <a:off x="6035040" y="1463040"/>
            <a:ext cx="251460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0" name="Stat 3"/>
          <p:cNvSpPr txBox="1"/>
          <p:nvPr/>
        </p:nvSpPr>
        <p:spPr>
          <a:xfrm>
            <a:off x="6263640" y="17373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+38 %</a:t>
            </a:r>
            <a:endParaRPr lang="en-US" sz="4400" dirty="0"/>
          </a:p>
        </p:txBody>
      </p:sp>
      <p:sp>
        <p:nvSpPr>
          <p:cNvPr id="11" name="Stat label 3"/>
          <p:cNvSpPr txBox="1"/>
          <p:nvPr/>
        </p:nvSpPr>
        <p:spPr>
          <a:xfrm>
            <a:off x="6263640" y="27432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wholesale roasting volume this year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49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Source: till data and roastery orders, January–September 2026.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on 1 May 2027, in four steps</a:t>
            </a:r>
            <a:endParaRPr lang="en-US" sz="3200" dirty="0"/>
          </a:p>
        </p:txBody>
      </p:sp>
      <p:sp>
        <p:nvSpPr>
          <p:cNvPr id="3" name="Timeline"/>
          <p:cNvSpPr/>
          <p:nvPr/>
        </p:nvSpPr>
        <p:spPr>
          <a:xfrm>
            <a:off x="960120" y="1965960"/>
            <a:ext cx="6995160" cy="0"/>
          </a:xfrm>
          <a:prstGeom prst="line">
            <a:avLst/>
          </a:prstGeom>
          <a:noFill/>
          <a:ln w="25400">
            <a:solidFill>
              <a:srgbClr val="D9C2AE"/>
            </a:solidFill>
            <a:prstDash val="solid"/>
          </a:ln>
        </p:spPr>
      </p:sp>
      <p:sp>
        <p:nvSpPr>
          <p:cNvPr id="4" name="Step 1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Sign the lease, order the espresso machine</a:t>
            </a:r>
            <a:endParaRPr lang="en-US" sz="1500" dirty="0"/>
          </a:p>
        </p:txBody>
      </p:sp>
      <p:sp>
        <p:nvSpPr>
          <p:cNvPr id="8" name="Step 2"/>
          <p:cNvSpPr/>
          <p:nvPr/>
        </p:nvSpPr>
        <p:spPr>
          <a:xfrm>
            <a:off x="2743200" y="1691640"/>
            <a:ext cx="548640" cy="548640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Feb–Apr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8346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Fit-out, permits and hiring</a:t>
            </a:r>
            <a:endParaRPr lang="en-US" sz="1500" dirty="0"/>
          </a:p>
        </p:txBody>
      </p:sp>
      <p:sp>
        <p:nvSpPr>
          <p:cNvPr id="12" name="Step 3"/>
          <p:cNvSpPr/>
          <p:nvPr/>
        </p:nvSpPr>
        <p:spPr>
          <a:xfrm>
            <a:off x="4800600" y="1691640"/>
            <a:ext cx="548640" cy="548640"/>
          </a:xfrm>
          <a:prstGeom prst="ellipse">
            <a:avLst/>
          </a:prstGeom>
          <a:solidFill>
            <a:schemeClr val="accent2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Apr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8346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Soft opening for regulars</a:t>
            </a:r>
            <a:endParaRPr lang="en-US" sz="1500" dirty="0"/>
          </a:p>
        </p:txBody>
      </p:sp>
      <p:sp>
        <p:nvSpPr>
          <p:cNvPr id="16" name="Step 4"/>
          <p:cNvSpPr/>
          <p:nvPr/>
        </p:nvSpPr>
        <p:spPr>
          <a:xfrm>
            <a:off x="6858000" y="169164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423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May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28346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Public opening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€ 122,650 to open, break-even in month 14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ommentary"/>
          <p:cNvSpPr txBox="1"/>
          <p:nvPr/>
        </p:nvSpPr>
        <p:spPr>
          <a:xfrm>
            <a:off x="5943600" y="1371600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Opening investment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€ 91,300 in Q1 and € 31,350 in Q2 2027, including 10 % contingency.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Ramp-up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55 % of full covers in month 1, 90 % by month 6.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Details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Project Sunrise Budget.xlsx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n"/>
          <p:cNvSpPr/>
          <p:nvPr/>
        </p:nvSpPr>
        <p:spPr>
          <a:xfrm>
            <a:off x="6583680" y="3108960"/>
            <a:ext cx="3840480" cy="3840480"/>
          </a:xfrm>
          <a:prstGeom prst="ellipse">
            <a:avLst/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5544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ask to the board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25146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accent5"/>
                </a:solidFill>
              </a:rPr>
              <a:t>Approve the € 122,650 investment</a:t>
            </a:r>
            <a:endParaRPr lang="en-US" sz="20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accent5"/>
                </a:solidFill>
              </a:rPr>
              <a:t>Authorise signing the Korenmarkt lease before 15 December 2026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unrise">
      <a:dk1>
        <a:srgbClr val="2B1D14"/>
      </a:dk1>
      <a:lt1>
        <a:srgbClr val="FFFFFF"/>
      </a:lt1>
      <a:dk2>
        <a:srgbClr val="5C4636"/>
      </a:dk2>
      <a:lt2>
        <a:srgbClr val="F7F3EF"/>
      </a:lt2>
      <a:accent1>
        <a:srgbClr val="C95F00"/>
      </a:accent1>
      <a:accent2>
        <a:srgbClr val="F59F0B"/>
      </a:accent2>
      <a:accent3>
        <a:srgbClr val="7A9E7E"/>
      </a:accent3>
      <a:accent4>
        <a:srgbClr val="8C6A52"/>
      </a:accent4>
      <a:accent5>
        <a:srgbClr val="D9C2AE"/>
      </a:accent5>
      <a:accent6>
        <a:srgbClr val="4F6D7A"/>
      </a:accent6>
      <a:hlink>
        <a:srgbClr val="C95F00"/>
      </a:hlink>
      <a:folHlink>
        <a:srgbClr val="8C6A5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SolarOffice examples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Sunrise</dc:title>
  <dc:subject>PptxGenJS Presentation</dc:subject>
  <dc:creator>Aurora Coffee Roasters (fictional)</dc:creator>
  <cp:lastModifiedBy>Aurora Coffee Roasters (fictional)</cp:lastModifiedBy>
  <cp:revision>1</cp:revision>
  <dcterms:created xsi:type="dcterms:W3CDTF">2026-10-24T10:04:57Z</dcterms:created>
  <dcterms:modified xsi:type="dcterms:W3CDTF">2026-10-24T10:04:57Z</dcterms:modified>
</cp:coreProperties>
</file>